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Ballpoint" charset="1" panose="00000000000000000000"/>
      <p:regular r:id="rId13"/>
    </p:embeddedFont>
    <p:embeddedFont>
      <p:font typeface="Questrial" charset="1" panose="02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7075771" y="1102351"/>
            <a:ext cx="2095076" cy="1209593"/>
          </a:xfrm>
          <a:prstGeom prst="line">
            <a:avLst/>
          </a:prstGeom>
          <a:ln cap="flat" w="66675">
            <a:solidFill>
              <a:srgbClr val="1839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9117153" y="1159894"/>
            <a:ext cx="2095076" cy="1209593"/>
          </a:xfrm>
          <a:prstGeom prst="line">
            <a:avLst/>
          </a:prstGeom>
          <a:ln cap="flat" w="66675">
            <a:solidFill>
              <a:srgbClr val="1839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498789" y="2055111"/>
            <a:ext cx="13691597" cy="6176777"/>
          </a:xfrm>
          <a:custGeom>
            <a:avLst/>
            <a:gdLst/>
            <a:ahLst/>
            <a:cxnLst/>
            <a:rect r="r" b="b" t="t" l="l"/>
            <a:pathLst>
              <a:path h="6176777" w="13691597">
                <a:moveTo>
                  <a:pt x="0" y="0"/>
                </a:moveTo>
                <a:lnTo>
                  <a:pt x="13691597" y="0"/>
                </a:lnTo>
                <a:lnTo>
                  <a:pt x="13691597" y="6176778"/>
                </a:lnTo>
                <a:lnTo>
                  <a:pt x="0" y="617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807962" y="5526318"/>
            <a:ext cx="4725590" cy="3814840"/>
          </a:xfrm>
          <a:custGeom>
            <a:avLst/>
            <a:gdLst/>
            <a:ahLst/>
            <a:cxnLst/>
            <a:rect r="r" b="b" t="t" l="l"/>
            <a:pathLst>
              <a:path h="3814840" w="4725590">
                <a:moveTo>
                  <a:pt x="0" y="0"/>
                </a:moveTo>
                <a:lnTo>
                  <a:pt x="4725590" y="0"/>
                </a:lnTo>
                <a:lnTo>
                  <a:pt x="4725590" y="3814840"/>
                </a:lnTo>
                <a:lnTo>
                  <a:pt x="0" y="38148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163130">
            <a:off x="795253" y="1028932"/>
            <a:ext cx="3920313" cy="2566023"/>
          </a:xfrm>
          <a:custGeom>
            <a:avLst/>
            <a:gdLst/>
            <a:ahLst/>
            <a:cxnLst/>
            <a:rect r="r" b="b" t="t" l="l"/>
            <a:pathLst>
              <a:path h="2566023" w="3920313">
                <a:moveTo>
                  <a:pt x="0" y="0"/>
                </a:moveTo>
                <a:lnTo>
                  <a:pt x="3920313" y="0"/>
                </a:lnTo>
                <a:lnTo>
                  <a:pt x="3920313" y="2566023"/>
                </a:lnTo>
                <a:lnTo>
                  <a:pt x="0" y="2566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998465" y="928249"/>
            <a:ext cx="3882407" cy="3197692"/>
          </a:xfrm>
          <a:custGeom>
            <a:avLst/>
            <a:gdLst/>
            <a:ahLst/>
            <a:cxnLst/>
            <a:rect r="r" b="b" t="t" l="l"/>
            <a:pathLst>
              <a:path h="3197692" w="3882407">
                <a:moveTo>
                  <a:pt x="0" y="0"/>
                </a:moveTo>
                <a:lnTo>
                  <a:pt x="3882407" y="0"/>
                </a:lnTo>
                <a:lnTo>
                  <a:pt x="3882407" y="3197692"/>
                </a:lnTo>
                <a:lnTo>
                  <a:pt x="0" y="31976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40003" y="5073369"/>
            <a:ext cx="4166913" cy="4267788"/>
          </a:xfrm>
          <a:custGeom>
            <a:avLst/>
            <a:gdLst/>
            <a:ahLst/>
            <a:cxnLst/>
            <a:rect r="r" b="b" t="t" l="l"/>
            <a:pathLst>
              <a:path h="4267788" w="4166913">
                <a:moveTo>
                  <a:pt x="0" y="0"/>
                </a:moveTo>
                <a:lnTo>
                  <a:pt x="4166914" y="0"/>
                </a:lnTo>
                <a:lnTo>
                  <a:pt x="4166914" y="4267789"/>
                </a:lnTo>
                <a:lnTo>
                  <a:pt x="0" y="42677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878632" y="1028700"/>
            <a:ext cx="457992" cy="45799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8E28A"/>
            </a:solidFill>
            <a:ln w="9525" cap="sq">
              <a:solidFill>
                <a:srgbClr val="347571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834515" y="3309547"/>
            <a:ext cx="7852124" cy="420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1"/>
              </a:lnSpc>
            </a:pPr>
            <a:r>
              <a:rPr lang="en-US" sz="5807" spc="319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BANK CUSTOMER ATTRITION &amp; BEHAVIOR ANALYSIS</a:t>
            </a:r>
          </a:p>
          <a:p>
            <a:pPr algn="ctr">
              <a:lnSpc>
                <a:spcPts val="8131"/>
              </a:lnSpc>
            </a:pPr>
          </a:p>
          <a:p>
            <a:pPr algn="ctr">
              <a:lnSpc>
                <a:spcPts val="8131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-10739957">
            <a:off x="6127418" y="5797225"/>
            <a:ext cx="4804988" cy="812480"/>
          </a:xfrm>
          <a:custGeom>
            <a:avLst/>
            <a:gdLst/>
            <a:ahLst/>
            <a:cxnLst/>
            <a:rect r="r" b="b" t="t" l="l"/>
            <a:pathLst>
              <a:path h="812480" w="4804988">
                <a:moveTo>
                  <a:pt x="0" y="0"/>
                </a:moveTo>
                <a:lnTo>
                  <a:pt x="4804988" y="0"/>
                </a:lnTo>
                <a:lnTo>
                  <a:pt x="4804988" y="812480"/>
                </a:lnTo>
                <a:lnTo>
                  <a:pt x="0" y="8124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013543" y="1138162"/>
            <a:ext cx="721889" cy="916949"/>
          </a:xfrm>
          <a:custGeom>
            <a:avLst/>
            <a:gdLst/>
            <a:ahLst/>
            <a:cxnLst/>
            <a:rect r="r" b="b" t="t" l="l"/>
            <a:pathLst>
              <a:path h="916949" w="721889">
                <a:moveTo>
                  <a:pt x="0" y="0"/>
                </a:moveTo>
                <a:lnTo>
                  <a:pt x="721889" y="0"/>
                </a:lnTo>
                <a:lnTo>
                  <a:pt x="721889" y="916949"/>
                </a:lnTo>
                <a:lnTo>
                  <a:pt x="0" y="916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459690" y="8641464"/>
            <a:ext cx="8140444" cy="79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50"/>
              </a:lnSpc>
              <a:spcBef>
                <a:spcPct val="0"/>
              </a:spcBef>
            </a:pPr>
            <a:r>
              <a:rPr lang="en-US" sz="4178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by Aml Gamal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67756" y="5286516"/>
            <a:ext cx="721889" cy="916949"/>
          </a:xfrm>
          <a:custGeom>
            <a:avLst/>
            <a:gdLst/>
            <a:ahLst/>
            <a:cxnLst/>
            <a:rect r="r" b="b" t="t" l="l"/>
            <a:pathLst>
              <a:path h="916949" w="721889">
                <a:moveTo>
                  <a:pt x="0" y="0"/>
                </a:moveTo>
                <a:lnTo>
                  <a:pt x="721888" y="0"/>
                </a:lnTo>
                <a:lnTo>
                  <a:pt x="721888" y="916949"/>
                </a:lnTo>
                <a:lnTo>
                  <a:pt x="0" y="916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6592" y="806692"/>
            <a:ext cx="17184419" cy="7752516"/>
          </a:xfrm>
          <a:custGeom>
            <a:avLst/>
            <a:gdLst/>
            <a:ahLst/>
            <a:cxnLst/>
            <a:rect r="r" b="b" t="t" l="l"/>
            <a:pathLst>
              <a:path h="7752516" w="17184419">
                <a:moveTo>
                  <a:pt x="0" y="0"/>
                </a:moveTo>
                <a:lnTo>
                  <a:pt x="17184419" y="0"/>
                </a:lnTo>
                <a:lnTo>
                  <a:pt x="17184419" y="7752516"/>
                </a:lnTo>
                <a:lnTo>
                  <a:pt x="0" y="77525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44383" y="9258300"/>
            <a:ext cx="984216" cy="971689"/>
          </a:xfrm>
          <a:custGeom>
            <a:avLst/>
            <a:gdLst/>
            <a:ahLst/>
            <a:cxnLst/>
            <a:rect r="r" b="b" t="t" l="l"/>
            <a:pathLst>
              <a:path h="971689" w="984216">
                <a:moveTo>
                  <a:pt x="0" y="0"/>
                </a:moveTo>
                <a:lnTo>
                  <a:pt x="984216" y="0"/>
                </a:lnTo>
                <a:lnTo>
                  <a:pt x="984216" y="971689"/>
                </a:lnTo>
                <a:lnTo>
                  <a:pt x="0" y="9716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484" y="6374597"/>
            <a:ext cx="984216" cy="971689"/>
          </a:xfrm>
          <a:custGeom>
            <a:avLst/>
            <a:gdLst/>
            <a:ahLst/>
            <a:cxnLst/>
            <a:rect r="r" b="b" t="t" l="l"/>
            <a:pathLst>
              <a:path h="971689" w="984216">
                <a:moveTo>
                  <a:pt x="0" y="0"/>
                </a:moveTo>
                <a:lnTo>
                  <a:pt x="984216" y="0"/>
                </a:lnTo>
                <a:lnTo>
                  <a:pt x="984216" y="971689"/>
                </a:lnTo>
                <a:lnTo>
                  <a:pt x="0" y="9716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8096441" y="2065555"/>
            <a:ext cx="2095119" cy="426642"/>
          </a:xfrm>
          <a:custGeom>
            <a:avLst/>
            <a:gdLst/>
            <a:ahLst/>
            <a:cxnLst/>
            <a:rect r="r" b="b" t="t" l="l"/>
            <a:pathLst>
              <a:path h="426642" w="2095119">
                <a:moveTo>
                  <a:pt x="0" y="0"/>
                </a:moveTo>
                <a:lnTo>
                  <a:pt x="2095118" y="0"/>
                </a:lnTo>
                <a:lnTo>
                  <a:pt x="2095118" y="426642"/>
                </a:lnTo>
                <a:lnTo>
                  <a:pt x="0" y="4266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28643" y="762000"/>
            <a:ext cx="6718259" cy="130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47"/>
              </a:lnSpc>
              <a:spcBef>
                <a:spcPct val="0"/>
              </a:spcBef>
            </a:pPr>
            <a:r>
              <a:rPr lang="en-US" sz="6819" spc="300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579421"/>
            <a:ext cx="13471620" cy="698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66414" indent="-433207" lvl="1">
              <a:lnSpc>
                <a:spcPts val="5618"/>
              </a:lnSpc>
              <a:buFont typeface="Arial"/>
              <a:buChar char="•"/>
            </a:pPr>
            <a:r>
              <a:rPr lang="en-US" sz="4013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Analyze bank customer behavior and credit card usage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2887" y="4184490"/>
            <a:ext cx="9611514" cy="665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22211" indent="-411106" lvl="1">
              <a:lnSpc>
                <a:spcPts val="5331"/>
              </a:lnSpc>
              <a:buFont typeface="Arial"/>
              <a:buChar char="•"/>
            </a:pPr>
            <a:r>
              <a:rPr lang="en-US" sz="3808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Customer attrition leads to revenue loss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34941" y="1601949"/>
            <a:ext cx="4595705" cy="890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30"/>
              </a:lnSpc>
              <a:spcBef>
                <a:spcPct val="0"/>
              </a:spcBef>
            </a:pPr>
            <a:r>
              <a:rPr lang="en-US" sz="4664" spc="205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ABOUT THE PROJECT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2887" y="4794518"/>
            <a:ext cx="5601946" cy="1017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64"/>
              </a:lnSpc>
              <a:spcBef>
                <a:spcPct val="0"/>
              </a:spcBef>
            </a:pPr>
            <a:r>
              <a:rPr lang="en-US" sz="5331" spc="234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OBJECTIVES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12482" y="3250514"/>
            <a:ext cx="4418164" cy="101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59"/>
              </a:lnSpc>
              <a:spcBef>
                <a:spcPct val="0"/>
              </a:spcBef>
            </a:pPr>
            <a:r>
              <a:rPr lang="en-US" sz="5328" spc="234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BUSINESS PROBLEM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2887" y="5716374"/>
            <a:ext cx="6022280" cy="698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65390" indent="-432695" lvl="1">
              <a:lnSpc>
                <a:spcPts val="5611"/>
              </a:lnSpc>
              <a:buFont typeface="Arial"/>
              <a:buChar char="•"/>
            </a:pPr>
            <a:r>
              <a:rPr lang="en-US" sz="4008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Id</a:t>
            </a:r>
            <a:r>
              <a:rPr lang="en-US" sz="4008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entify churn factors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2887" y="6424614"/>
            <a:ext cx="8425785" cy="698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65390" indent="-432695" lvl="1">
              <a:lnSpc>
                <a:spcPts val="5611"/>
              </a:lnSpc>
              <a:buFont typeface="Arial"/>
              <a:buChar char="•"/>
            </a:pPr>
            <a:r>
              <a:rPr lang="en-US" sz="4008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Und</a:t>
            </a:r>
            <a:r>
              <a:rPr lang="en-US" sz="4008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erstand customer segments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2887" y="7027653"/>
            <a:ext cx="7560523" cy="698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65390" indent="-432695" lvl="1">
              <a:lnSpc>
                <a:spcPts val="5611"/>
              </a:lnSpc>
              <a:buFont typeface="Arial"/>
              <a:buChar char="•"/>
            </a:pPr>
            <a:r>
              <a:rPr lang="en-US" sz="4008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Build int</a:t>
            </a:r>
            <a:r>
              <a:rPr lang="en-US" sz="4008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eractive dashboards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0478" y="1865677"/>
            <a:ext cx="16898822" cy="7623673"/>
          </a:xfrm>
          <a:custGeom>
            <a:avLst/>
            <a:gdLst/>
            <a:ahLst/>
            <a:cxnLst/>
            <a:rect r="r" b="b" t="t" l="l"/>
            <a:pathLst>
              <a:path h="7623673" w="16898822">
                <a:moveTo>
                  <a:pt x="0" y="0"/>
                </a:moveTo>
                <a:lnTo>
                  <a:pt x="16898822" y="0"/>
                </a:lnTo>
                <a:lnTo>
                  <a:pt x="16898822" y="7623673"/>
                </a:lnTo>
                <a:lnTo>
                  <a:pt x="0" y="76236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7020" y="-207477"/>
            <a:ext cx="16361802" cy="1806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29"/>
              </a:lnSpc>
            </a:pPr>
            <a:r>
              <a:rPr lang="en-US" sz="9521" spc="418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DATASET DESCRIPTION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2446274">
            <a:off x="13470132" y="478849"/>
            <a:ext cx="1279045" cy="768574"/>
          </a:xfrm>
          <a:custGeom>
            <a:avLst/>
            <a:gdLst/>
            <a:ahLst/>
            <a:cxnLst/>
            <a:rect r="r" b="b" t="t" l="l"/>
            <a:pathLst>
              <a:path h="768574" w="1279045">
                <a:moveTo>
                  <a:pt x="0" y="0"/>
                </a:moveTo>
                <a:lnTo>
                  <a:pt x="1279045" y="0"/>
                </a:lnTo>
                <a:lnTo>
                  <a:pt x="1279045" y="768574"/>
                </a:lnTo>
                <a:lnTo>
                  <a:pt x="0" y="7685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7954909">
            <a:off x="2582647" y="515102"/>
            <a:ext cx="1186915" cy="1089804"/>
          </a:xfrm>
          <a:custGeom>
            <a:avLst/>
            <a:gdLst/>
            <a:ahLst/>
            <a:cxnLst/>
            <a:rect r="r" b="b" t="t" l="l"/>
            <a:pathLst>
              <a:path h="1089804" w="1186915">
                <a:moveTo>
                  <a:pt x="1186915" y="0"/>
                </a:moveTo>
                <a:lnTo>
                  <a:pt x="0" y="0"/>
                </a:lnTo>
                <a:lnTo>
                  <a:pt x="0" y="1089803"/>
                </a:lnTo>
                <a:lnTo>
                  <a:pt x="1186915" y="1089803"/>
                </a:lnTo>
                <a:lnTo>
                  <a:pt x="118691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501404"/>
            <a:ext cx="15206439" cy="317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9"/>
              </a:lnSpc>
            </a:pPr>
          </a:p>
          <a:p>
            <a:pPr algn="l">
              <a:lnSpc>
                <a:spcPts val="4589"/>
              </a:lnSpc>
            </a:pPr>
            <a:r>
              <a:rPr lang="en-US" sz="3278">
                <a:solidFill>
                  <a:srgbClr val="183937"/>
                </a:solidFill>
                <a:latin typeface="Questrial"/>
                <a:ea typeface="Questrial"/>
                <a:cs typeface="Questrial"/>
                <a:sym typeface="Questrial"/>
              </a:rPr>
              <a:t>The d</a:t>
            </a:r>
            <a:r>
              <a:rPr lang="en-US" sz="3278">
                <a:solidFill>
                  <a:srgbClr val="183937"/>
                </a:solidFill>
                <a:latin typeface="Questrial"/>
                <a:ea typeface="Questrial"/>
                <a:cs typeface="Questrial"/>
                <a:sym typeface="Questrial"/>
              </a:rPr>
              <a:t>ata</a:t>
            </a:r>
            <a:r>
              <a:rPr lang="en-US" sz="3278">
                <a:solidFill>
                  <a:srgbClr val="183937"/>
                </a:solidFill>
                <a:latin typeface="Questrial"/>
                <a:ea typeface="Questrial"/>
                <a:cs typeface="Questrial"/>
                <a:sym typeface="Questrial"/>
              </a:rPr>
              <a:t> contains information on approximately 10,000 of the bank's customers.</a:t>
            </a:r>
          </a:p>
          <a:p>
            <a:pPr algn="l">
              <a:lnSpc>
                <a:spcPts val="4589"/>
              </a:lnSpc>
            </a:pPr>
            <a:r>
              <a:rPr lang="en-US" sz="3278">
                <a:solidFill>
                  <a:srgbClr val="183937"/>
                </a:solidFill>
                <a:latin typeface="Questrial"/>
                <a:ea typeface="Questrial"/>
                <a:cs typeface="Questrial"/>
                <a:sym typeface="Questrial"/>
              </a:rPr>
              <a:t>This data includes personal information such as age, gender, and income, as well as details of credit cards and their transactions.</a:t>
            </a:r>
          </a:p>
          <a:p>
            <a:pPr algn="l">
              <a:lnSpc>
                <a:spcPts val="4589"/>
              </a:lnSpc>
            </a:pPr>
            <a:r>
              <a:rPr lang="en-US" sz="3278">
                <a:solidFill>
                  <a:srgbClr val="183937"/>
                </a:solidFill>
                <a:latin typeface="Questrial"/>
                <a:ea typeface="Questrial"/>
                <a:cs typeface="Questrial"/>
                <a:sym typeface="Questrial"/>
              </a:rPr>
              <a:t>The purpose is to contact customers and identify those who may leave the bank.)</a:t>
            </a:r>
          </a:p>
          <a:p>
            <a:pPr algn="ctr">
              <a:lnSpc>
                <a:spcPts val="348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37020" y="1694227"/>
            <a:ext cx="8180901" cy="4332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0"/>
              </a:lnSpc>
            </a:pPr>
          </a:p>
          <a:p>
            <a:pPr algn="l" marL="710950" indent="-355475" lvl="1">
              <a:lnSpc>
                <a:spcPts val="4610"/>
              </a:lnSpc>
              <a:spcBef>
                <a:spcPct val="0"/>
              </a:spcBef>
              <a:buFont typeface="Arial"/>
              <a:buChar char="•"/>
            </a:pPr>
            <a:r>
              <a:rPr lang="en-US" sz="3292" spc="181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Bank customer d</a:t>
            </a:r>
            <a:r>
              <a:rPr lang="en-US" sz="3292" spc="181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ATASET</a:t>
            </a:r>
          </a:p>
          <a:p>
            <a:pPr algn="l" marL="710950" indent="-355475" lvl="1">
              <a:lnSpc>
                <a:spcPts val="4610"/>
              </a:lnSpc>
              <a:spcBef>
                <a:spcPct val="0"/>
              </a:spcBef>
              <a:buFont typeface="Arial"/>
              <a:buChar char="•"/>
            </a:pPr>
            <a:r>
              <a:rPr lang="en-US" sz="3292" spc="181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10,000 CUSTOMERS RECORDS</a:t>
            </a:r>
          </a:p>
          <a:p>
            <a:pPr algn="l" marL="710950" indent="-355475" lvl="1">
              <a:lnSpc>
                <a:spcPts val="4610"/>
              </a:lnSpc>
              <a:spcBef>
                <a:spcPct val="0"/>
              </a:spcBef>
              <a:buFont typeface="Arial"/>
              <a:buChar char="•"/>
            </a:pPr>
            <a:r>
              <a:rPr lang="en-US" sz="3292" spc="181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DEMOGRAPHICS, INCOME &amp; CARD TYPE</a:t>
            </a:r>
          </a:p>
          <a:p>
            <a:pPr algn="l" marL="710950" indent="-355475" lvl="1">
              <a:lnSpc>
                <a:spcPts val="4610"/>
              </a:lnSpc>
              <a:spcBef>
                <a:spcPct val="0"/>
              </a:spcBef>
              <a:buFont typeface="Arial"/>
              <a:buChar char="•"/>
            </a:pPr>
            <a:r>
              <a:rPr lang="en-US" sz="3292" spc="181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TRANSACTIONS &amp; CREDIT BEHAVIOR</a:t>
            </a:r>
          </a:p>
          <a:p>
            <a:pPr algn="l" marL="710950" indent="-355475" lvl="1">
              <a:lnSpc>
                <a:spcPts val="4610"/>
              </a:lnSpc>
              <a:spcBef>
                <a:spcPct val="0"/>
              </a:spcBef>
              <a:buFont typeface="Arial"/>
              <a:buChar char="•"/>
            </a:pPr>
            <a:r>
              <a:rPr lang="en-US" sz="3292" spc="181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TARGET: CUSTOMER ATTRITION (ACTIVE / CHURNED)</a:t>
            </a:r>
          </a:p>
          <a:p>
            <a:pPr algn="ctr">
              <a:lnSpc>
                <a:spcPts val="4750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-682905">
            <a:off x="14657375" y="1643864"/>
            <a:ext cx="3413058" cy="2811119"/>
          </a:xfrm>
          <a:custGeom>
            <a:avLst/>
            <a:gdLst/>
            <a:ahLst/>
            <a:cxnLst/>
            <a:rect r="r" b="b" t="t" l="l"/>
            <a:pathLst>
              <a:path h="2811119" w="3413058">
                <a:moveTo>
                  <a:pt x="0" y="0"/>
                </a:moveTo>
                <a:lnTo>
                  <a:pt x="3413059" y="0"/>
                </a:lnTo>
                <a:lnTo>
                  <a:pt x="3413059" y="2811119"/>
                </a:lnTo>
                <a:lnTo>
                  <a:pt x="0" y="28111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0515" y="1536095"/>
            <a:ext cx="17117230" cy="7722205"/>
          </a:xfrm>
          <a:custGeom>
            <a:avLst/>
            <a:gdLst/>
            <a:ahLst/>
            <a:cxnLst/>
            <a:rect r="r" b="b" t="t" l="l"/>
            <a:pathLst>
              <a:path h="7722205" w="17117230">
                <a:moveTo>
                  <a:pt x="0" y="0"/>
                </a:moveTo>
                <a:lnTo>
                  <a:pt x="17117231" y="0"/>
                </a:lnTo>
                <a:lnTo>
                  <a:pt x="17117231" y="7722205"/>
                </a:lnTo>
                <a:lnTo>
                  <a:pt x="0" y="7722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7020" y="-102702"/>
            <a:ext cx="17000726" cy="1244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5"/>
              </a:lnSpc>
            </a:pPr>
            <a:r>
              <a:rPr lang="en-US" sz="6496" spc="285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DATA CLEANING &amp; PREPARATION (PYTHON)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7954909">
            <a:off x="1557152" y="103323"/>
            <a:ext cx="1186915" cy="1089804"/>
          </a:xfrm>
          <a:custGeom>
            <a:avLst/>
            <a:gdLst/>
            <a:ahLst/>
            <a:cxnLst/>
            <a:rect r="r" b="b" t="t" l="l"/>
            <a:pathLst>
              <a:path h="1089804" w="1186915">
                <a:moveTo>
                  <a:pt x="1186915" y="0"/>
                </a:moveTo>
                <a:lnTo>
                  <a:pt x="0" y="0"/>
                </a:lnTo>
                <a:lnTo>
                  <a:pt x="0" y="1089804"/>
                </a:lnTo>
                <a:lnTo>
                  <a:pt x="1186915" y="1089804"/>
                </a:lnTo>
                <a:lnTo>
                  <a:pt x="118691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09354" y="2186296"/>
            <a:ext cx="11882848" cy="3210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9990" indent="-399995" lvl="1">
              <a:lnSpc>
                <a:spcPts val="5187"/>
              </a:lnSpc>
              <a:buFont typeface="Arial"/>
              <a:buChar char="•"/>
            </a:pP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RE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moved unn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EC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E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S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SA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R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Y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 CO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LUMN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S</a:t>
            </a:r>
          </a:p>
          <a:p>
            <a:pPr algn="l" marL="799990" indent="-399995" lvl="1">
              <a:lnSpc>
                <a:spcPts val="5187"/>
              </a:lnSpc>
              <a:spcBef>
                <a:spcPct val="0"/>
              </a:spcBef>
              <a:buFont typeface="Arial"/>
              <a:buChar char="•"/>
            </a:pP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R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E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PL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AC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ED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 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"U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N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KN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O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WN" VALUES WITH 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M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OD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E 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FOR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 CATE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GO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R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IC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A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L D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A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TA</a:t>
            </a:r>
          </a:p>
          <a:p>
            <a:pPr algn="l" marL="799990" indent="-399995" lvl="1">
              <a:lnSpc>
                <a:spcPts val="5187"/>
              </a:lnSpc>
              <a:spcBef>
                <a:spcPct val="0"/>
              </a:spcBef>
              <a:buFont typeface="Arial"/>
              <a:buChar char="•"/>
            </a:pP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DETE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CT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ED A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N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D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 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HANDL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ED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 OUTL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IER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S</a:t>
            </a:r>
          </a:p>
          <a:p>
            <a:pPr algn="l" marL="799990" indent="-399995" lvl="1">
              <a:lnSpc>
                <a:spcPts val="5187"/>
              </a:lnSpc>
              <a:spcBef>
                <a:spcPct val="0"/>
              </a:spcBef>
              <a:buFont typeface="Arial"/>
              <a:buChar char="•"/>
            </a:pP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PREP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ARE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D DA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T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A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S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E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T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 F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OR 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P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O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W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E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R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 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BI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 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DAS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H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BOA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RD</a:t>
            </a:r>
            <a:r>
              <a:rPr lang="en-US" sz="3705" spc="203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S</a:t>
            </a:r>
          </a:p>
          <a:p>
            <a:pPr algn="ctr">
              <a:lnSpc>
                <a:spcPts val="4154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432952"/>
            <a:ext cx="16230600" cy="2905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9"/>
              </a:lnSpc>
            </a:pPr>
            <a:r>
              <a:rPr lang="en-US" sz="3578">
                <a:solidFill>
                  <a:srgbClr val="183937"/>
                </a:solidFill>
                <a:latin typeface="Questrial"/>
                <a:ea typeface="Questrial"/>
                <a:cs typeface="Questrial"/>
                <a:sym typeface="Questrial"/>
              </a:rPr>
              <a:t>I</a:t>
            </a:r>
            <a:r>
              <a:rPr lang="en-US" sz="3578">
                <a:solidFill>
                  <a:srgbClr val="183937"/>
                </a:solidFill>
                <a:latin typeface="Questrial"/>
                <a:ea typeface="Questrial"/>
                <a:cs typeface="Questrial"/>
                <a:sym typeface="Questrial"/>
              </a:rPr>
              <a:t> cleaned and prepared the dataset using Python.</a:t>
            </a:r>
          </a:p>
          <a:p>
            <a:pPr algn="l">
              <a:lnSpc>
                <a:spcPts val="4419"/>
              </a:lnSpc>
            </a:pPr>
            <a:r>
              <a:rPr lang="en-US" sz="3157">
                <a:solidFill>
                  <a:srgbClr val="183937"/>
                </a:solidFill>
                <a:latin typeface="Questrial"/>
                <a:ea typeface="Questrial"/>
                <a:cs typeface="Questrial"/>
                <a:sym typeface="Questrial"/>
              </a:rPr>
              <a:t> I removed unnecessary columns, replaced "Unknown" values with the mode for text data, and detected and handled outliers.</a:t>
            </a:r>
          </a:p>
          <a:p>
            <a:pPr algn="l">
              <a:lnSpc>
                <a:spcPts val="5009"/>
              </a:lnSpc>
            </a:pPr>
            <a:r>
              <a:rPr lang="en-US" sz="3578">
                <a:solidFill>
                  <a:srgbClr val="183937"/>
                </a:solidFill>
                <a:latin typeface="Questrial"/>
                <a:ea typeface="Questrial"/>
                <a:cs typeface="Questrial"/>
                <a:sym typeface="Questrial"/>
              </a:rPr>
              <a:t> After that, the data was ready for analysis in Power BI.</a:t>
            </a:r>
          </a:p>
          <a:p>
            <a:pPr algn="ctr">
              <a:lnSpc>
                <a:spcPts val="435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7020" y="-102702"/>
            <a:ext cx="17193006" cy="1244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5"/>
              </a:lnSpc>
            </a:pPr>
            <a:r>
              <a:rPr lang="en-US" sz="6496" spc="285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DASHBOARD OVERVIEW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7954909">
            <a:off x="3512002" y="103323"/>
            <a:ext cx="1186915" cy="1089804"/>
          </a:xfrm>
          <a:custGeom>
            <a:avLst/>
            <a:gdLst/>
            <a:ahLst/>
            <a:cxnLst/>
            <a:rect r="r" b="b" t="t" l="l"/>
            <a:pathLst>
              <a:path h="1089804" w="1186915">
                <a:moveTo>
                  <a:pt x="1186915" y="0"/>
                </a:moveTo>
                <a:lnTo>
                  <a:pt x="0" y="0"/>
                </a:lnTo>
                <a:lnTo>
                  <a:pt x="0" y="1089804"/>
                </a:lnTo>
                <a:lnTo>
                  <a:pt x="1186915" y="1089804"/>
                </a:lnTo>
                <a:lnTo>
                  <a:pt x="118691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4010" y="1141978"/>
            <a:ext cx="11233084" cy="6052790"/>
          </a:xfrm>
          <a:custGeom>
            <a:avLst/>
            <a:gdLst/>
            <a:ahLst/>
            <a:cxnLst/>
            <a:rect r="r" b="b" t="t" l="l"/>
            <a:pathLst>
              <a:path h="6052790" w="11233084">
                <a:moveTo>
                  <a:pt x="0" y="0"/>
                </a:moveTo>
                <a:lnTo>
                  <a:pt x="11233084" y="0"/>
                </a:lnTo>
                <a:lnTo>
                  <a:pt x="11233084" y="6052790"/>
                </a:lnTo>
                <a:lnTo>
                  <a:pt x="0" y="60527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855" b="-4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4010" y="7325537"/>
            <a:ext cx="16228536" cy="2713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9"/>
              </a:lnSpc>
              <a:spcBef>
                <a:spcPct val="0"/>
              </a:spcBef>
            </a:pPr>
            <a:r>
              <a:rPr lang="en-US" sz="3785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This is the overview page of the dashboard.</a:t>
            </a:r>
          </a:p>
          <a:p>
            <a:pPr algn="l">
              <a:lnSpc>
                <a:spcPts val="5299"/>
              </a:lnSpc>
              <a:spcBef>
                <a:spcPct val="0"/>
              </a:spcBef>
            </a:pPr>
            <a:r>
              <a:rPr lang="en-US" sz="3785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 It shows key metrics such as total customers, churn rate, average spending, and average products per customer.</a:t>
            </a:r>
          </a:p>
          <a:p>
            <a:pPr algn="l">
              <a:lnSpc>
                <a:spcPts val="5299"/>
              </a:lnSpc>
              <a:spcBef>
                <a:spcPct val="0"/>
              </a:spcBef>
            </a:pPr>
            <a:r>
              <a:rPr lang="en-US" sz="3785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 The page also displays customer status and distribution by income and card type.</a:t>
            </a:r>
          </a:p>
          <a:p>
            <a:pPr algn="l">
              <a:lnSpc>
                <a:spcPts val="5299"/>
              </a:lnSpc>
              <a:spcBef>
                <a:spcPct val="0"/>
              </a:spcBef>
            </a:pPr>
            <a:r>
              <a:rPr lang="en-US" sz="3785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 Interactive filters allow exploring data by gender, income, and card type.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238100">
            <a:off x="14630288" y="769875"/>
            <a:ext cx="3588859" cy="2114164"/>
          </a:xfrm>
          <a:custGeom>
            <a:avLst/>
            <a:gdLst/>
            <a:ahLst/>
            <a:cxnLst/>
            <a:rect r="r" b="b" t="t" l="l"/>
            <a:pathLst>
              <a:path h="2114164" w="3588859">
                <a:moveTo>
                  <a:pt x="0" y="0"/>
                </a:moveTo>
                <a:lnTo>
                  <a:pt x="3588858" y="0"/>
                </a:lnTo>
                <a:lnTo>
                  <a:pt x="3588858" y="2114164"/>
                </a:lnTo>
                <a:lnTo>
                  <a:pt x="0" y="21141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7020" y="-102702"/>
            <a:ext cx="17193006" cy="1244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5"/>
              </a:lnSpc>
            </a:pPr>
            <a:r>
              <a:rPr lang="en-US" sz="6496" spc="285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CUSTOMER BEHAVIOR DETAILS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7954909">
            <a:off x="3063348" y="103323"/>
            <a:ext cx="1186915" cy="1089804"/>
          </a:xfrm>
          <a:custGeom>
            <a:avLst/>
            <a:gdLst/>
            <a:ahLst/>
            <a:cxnLst/>
            <a:rect r="r" b="b" t="t" l="l"/>
            <a:pathLst>
              <a:path h="1089804" w="1186915">
                <a:moveTo>
                  <a:pt x="1186915" y="0"/>
                </a:moveTo>
                <a:lnTo>
                  <a:pt x="0" y="0"/>
                </a:lnTo>
                <a:lnTo>
                  <a:pt x="0" y="1089804"/>
                </a:lnTo>
                <a:lnTo>
                  <a:pt x="1186915" y="1089804"/>
                </a:lnTo>
                <a:lnTo>
                  <a:pt x="118691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37020" y="1141978"/>
            <a:ext cx="11003399" cy="5889143"/>
          </a:xfrm>
          <a:custGeom>
            <a:avLst/>
            <a:gdLst/>
            <a:ahLst/>
            <a:cxnLst/>
            <a:rect r="r" b="b" t="t" l="l"/>
            <a:pathLst>
              <a:path h="5889143" w="11003399">
                <a:moveTo>
                  <a:pt x="0" y="0"/>
                </a:moveTo>
                <a:lnTo>
                  <a:pt x="11003399" y="0"/>
                </a:lnTo>
                <a:lnTo>
                  <a:pt x="11003399" y="5889142"/>
                </a:lnTo>
                <a:lnTo>
                  <a:pt x="0" y="5889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37020" y="7550247"/>
            <a:ext cx="17193006" cy="1965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7"/>
              </a:lnSpc>
              <a:spcBef>
                <a:spcPct val="0"/>
              </a:spcBef>
            </a:pPr>
            <a:r>
              <a:rPr lang="en-US" sz="3598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In the Customer Behavior details page, I analyzed transactions and engagement metrics.</a:t>
            </a:r>
          </a:p>
          <a:p>
            <a:pPr algn="l">
              <a:lnSpc>
                <a:spcPts val="5037"/>
              </a:lnSpc>
              <a:spcBef>
                <a:spcPct val="0"/>
              </a:spcBef>
            </a:pPr>
            <a:r>
              <a:rPr lang="en-US" sz="3598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 I looked at inactive months, total transactions, and contact counts to identify patterns that may lead to churn.</a:t>
            </a:r>
          </a:p>
          <a:p>
            <a:pPr algn="l">
              <a:lnSpc>
                <a:spcPts val="5037"/>
              </a:lnSpc>
              <a:spcBef>
                <a:spcPct val="0"/>
              </a:spcBef>
            </a:pPr>
            <a:r>
              <a:rPr lang="en-US" sz="3598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 This page helps the bank better understand customer behavior and take actions to retain customers.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118765" y="346879"/>
            <a:ext cx="3611261" cy="5296516"/>
          </a:xfrm>
          <a:custGeom>
            <a:avLst/>
            <a:gdLst/>
            <a:ahLst/>
            <a:cxnLst/>
            <a:rect r="r" b="b" t="t" l="l"/>
            <a:pathLst>
              <a:path h="5296516" w="3611261">
                <a:moveTo>
                  <a:pt x="0" y="0"/>
                </a:moveTo>
                <a:lnTo>
                  <a:pt x="3611261" y="0"/>
                </a:lnTo>
                <a:lnTo>
                  <a:pt x="3611261" y="5296515"/>
                </a:lnTo>
                <a:lnTo>
                  <a:pt x="0" y="52965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7075771" y="1102351"/>
            <a:ext cx="2095076" cy="1209593"/>
          </a:xfrm>
          <a:prstGeom prst="line">
            <a:avLst/>
          </a:prstGeom>
          <a:ln cap="flat" w="38100">
            <a:solidFill>
              <a:srgbClr val="34757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9117153" y="1159894"/>
            <a:ext cx="2095076" cy="1209593"/>
          </a:xfrm>
          <a:prstGeom prst="line">
            <a:avLst/>
          </a:prstGeom>
          <a:ln cap="flat" w="38100">
            <a:solidFill>
              <a:srgbClr val="34757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498789" y="2055111"/>
            <a:ext cx="13691597" cy="6176777"/>
          </a:xfrm>
          <a:custGeom>
            <a:avLst/>
            <a:gdLst/>
            <a:ahLst/>
            <a:cxnLst/>
            <a:rect r="r" b="b" t="t" l="l"/>
            <a:pathLst>
              <a:path h="6176777" w="13691597">
                <a:moveTo>
                  <a:pt x="0" y="0"/>
                </a:moveTo>
                <a:lnTo>
                  <a:pt x="13691597" y="0"/>
                </a:lnTo>
                <a:lnTo>
                  <a:pt x="13691597" y="6176778"/>
                </a:lnTo>
                <a:lnTo>
                  <a:pt x="0" y="617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87620" y="5380048"/>
            <a:ext cx="5097162" cy="4114800"/>
          </a:xfrm>
          <a:custGeom>
            <a:avLst/>
            <a:gdLst/>
            <a:ahLst/>
            <a:cxnLst/>
            <a:rect r="r" b="b" t="t" l="l"/>
            <a:pathLst>
              <a:path h="4114800" w="5097162">
                <a:moveTo>
                  <a:pt x="0" y="0"/>
                </a:moveTo>
                <a:lnTo>
                  <a:pt x="5097162" y="0"/>
                </a:lnTo>
                <a:lnTo>
                  <a:pt x="50971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163130">
            <a:off x="652215" y="933037"/>
            <a:ext cx="4213326" cy="2757813"/>
          </a:xfrm>
          <a:custGeom>
            <a:avLst/>
            <a:gdLst/>
            <a:ahLst/>
            <a:cxnLst/>
            <a:rect r="r" b="b" t="t" l="l"/>
            <a:pathLst>
              <a:path h="2757813" w="4213326">
                <a:moveTo>
                  <a:pt x="0" y="0"/>
                </a:moveTo>
                <a:lnTo>
                  <a:pt x="4213326" y="0"/>
                </a:lnTo>
                <a:lnTo>
                  <a:pt x="4213326" y="2757813"/>
                </a:lnTo>
                <a:lnTo>
                  <a:pt x="0" y="27578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998465" y="928249"/>
            <a:ext cx="3882407" cy="3197692"/>
          </a:xfrm>
          <a:custGeom>
            <a:avLst/>
            <a:gdLst/>
            <a:ahLst/>
            <a:cxnLst/>
            <a:rect r="r" b="b" t="t" l="l"/>
            <a:pathLst>
              <a:path h="3197692" w="3882407">
                <a:moveTo>
                  <a:pt x="0" y="0"/>
                </a:moveTo>
                <a:lnTo>
                  <a:pt x="3882407" y="0"/>
                </a:lnTo>
                <a:lnTo>
                  <a:pt x="3882407" y="3197692"/>
                </a:lnTo>
                <a:lnTo>
                  <a:pt x="0" y="31976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43471" y="4803081"/>
            <a:ext cx="4430813" cy="4538077"/>
          </a:xfrm>
          <a:custGeom>
            <a:avLst/>
            <a:gdLst/>
            <a:ahLst/>
            <a:cxnLst/>
            <a:rect r="r" b="b" t="t" l="l"/>
            <a:pathLst>
              <a:path h="4538077" w="4430813">
                <a:moveTo>
                  <a:pt x="0" y="0"/>
                </a:moveTo>
                <a:lnTo>
                  <a:pt x="4430814" y="0"/>
                </a:lnTo>
                <a:lnTo>
                  <a:pt x="4430814" y="4538077"/>
                </a:lnTo>
                <a:lnTo>
                  <a:pt x="0" y="453807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878632" y="1028700"/>
            <a:ext cx="457992" cy="45799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8E28A"/>
            </a:solidFill>
            <a:ln w="9525" cap="sq">
              <a:solidFill>
                <a:srgbClr val="347571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934301" y="2735548"/>
            <a:ext cx="10820573" cy="3790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26"/>
              </a:lnSpc>
              <a:spcBef>
                <a:spcPct val="0"/>
              </a:spcBef>
            </a:pPr>
            <a:r>
              <a:rPr lang="en-US" sz="19876" spc="874">
                <a:solidFill>
                  <a:srgbClr val="183937"/>
                </a:solidFill>
                <a:latin typeface="Ballpoint"/>
                <a:ea typeface="Ballpoint"/>
                <a:cs typeface="Ballpoint"/>
                <a:sym typeface="Ballpoint"/>
              </a:rPr>
              <a:t>THANK YOU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2696005" y="928249"/>
            <a:ext cx="721889" cy="916949"/>
          </a:xfrm>
          <a:custGeom>
            <a:avLst/>
            <a:gdLst/>
            <a:ahLst/>
            <a:cxnLst/>
            <a:rect r="r" b="b" t="t" l="l"/>
            <a:pathLst>
              <a:path h="916949" w="721889">
                <a:moveTo>
                  <a:pt x="0" y="0"/>
                </a:moveTo>
                <a:lnTo>
                  <a:pt x="721889" y="0"/>
                </a:lnTo>
                <a:lnTo>
                  <a:pt x="721889" y="916949"/>
                </a:lnTo>
                <a:lnTo>
                  <a:pt x="0" y="91694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67756" y="5286516"/>
            <a:ext cx="721889" cy="916949"/>
          </a:xfrm>
          <a:custGeom>
            <a:avLst/>
            <a:gdLst/>
            <a:ahLst/>
            <a:cxnLst/>
            <a:rect r="r" b="b" t="t" l="l"/>
            <a:pathLst>
              <a:path h="916949" w="721889">
                <a:moveTo>
                  <a:pt x="0" y="0"/>
                </a:moveTo>
                <a:lnTo>
                  <a:pt x="721888" y="0"/>
                </a:lnTo>
                <a:lnTo>
                  <a:pt x="721888" y="916949"/>
                </a:lnTo>
                <a:lnTo>
                  <a:pt x="0" y="91694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DAHAiSn900k</dc:identifier>
  <dcterms:modified xsi:type="dcterms:W3CDTF">2011-08-01T06:04:30Z</dcterms:modified>
  <cp:revision>1</cp:revision>
  <dc:title>Green Illustrated Economy and Finance Presentation</dc:title>
</cp:coreProperties>
</file>